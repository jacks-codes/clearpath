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6"/>
  </p:normalViewPr>
  <p:slideViewPr>
    <p:cSldViewPr snapToGrid="0" snapToObjects="1">
      <p:cViewPr varScale="1">
        <p:scale>
          <a:sx n="90" d="100"/>
          <a:sy n="90" d="100"/>
        </p:scale>
        <p:origin x="216" y="7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405384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BM Plex Sans"/>
              </a:rPr>
              <a:t>ClearPath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A8A8"/>
                </a:solidFill>
                <a:latin typeface="IBM Plex Sans"/>
              </a:rPr>
              <a:t>IBM watsonx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463040"/>
            <a:ext cx="2926080" cy="411480"/>
          </a:xfrm>
          <a:prstGeom prst="roundRect">
            <a:avLst>
              <a:gd name="adj" fmla="val 5000"/>
            </a:avLst>
          </a:prstGeom>
          <a:solidFill>
            <a:srgbClr val="EEF3FF"/>
          </a:solidFill>
          <a:ln w="1270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490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62FE"/>
                </a:solidFill>
                <a:latin typeface="IBM Plex Sans"/>
              </a:rPr>
              <a:t>●  Powered by IBM watsonx.ai</a:t>
            </a:r>
          </a:p>
        </p:txBody>
      </p:sp>
      <p:pic>
        <p:nvPicPr>
          <p:cNvPr id="8" name="Picture 7" descr="logo_blu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40280"/>
            <a:ext cx="8001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20240" y="2286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61616"/>
                </a:solidFill>
                <a:latin typeface="IBM Plex Sans"/>
              </a:rPr>
              <a:t>ClearPath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82296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61616"/>
                </a:solidFill>
                <a:latin typeface="IBM Plex Sans"/>
              </a:rPr>
              <a:t>AI-powered C</a:t>
            </a:r>
            <a:r>
              <a:rPr lang="en-US" sz="2600" b="1" dirty="0">
                <a:solidFill>
                  <a:srgbClr val="161616"/>
                </a:solidFill>
                <a:latin typeface="IBM Plex Sans"/>
              </a:rPr>
              <a:t>ontinuing Education</a:t>
            </a:r>
            <a:r>
              <a:rPr sz="2600" b="1" dirty="0">
                <a:solidFill>
                  <a:srgbClr val="161616"/>
                </a:solidFill>
                <a:latin typeface="IBM Plex Sans"/>
              </a:rPr>
              <a:t> intelligence</a:t>
            </a:r>
            <a:r>
              <a:rPr sz="2600" b="0" dirty="0">
                <a:solidFill>
                  <a:srgbClr val="525252"/>
                </a:solidFill>
                <a:latin typeface="IBM Plex Sans"/>
              </a:rPr>
              <a:t> for hospital nursing directors.
Turn EMR data into targeted education mandates — backed by national standards.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8A8"/>
                </a:solidFill>
                <a:latin typeface="IBM Plex Sans"/>
              </a:rPr>
              <a:t>Nursing Continuing Education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8A8A8"/>
                </a:solidFill>
                <a:latin typeface="IBM Plex Sans"/>
              </a:rPr>
              <a:t>IBM watsonx.ai  |  IBM watsonx Orchestrate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405384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BM Plex Sans"/>
              </a:rPr>
              <a:t>ClearPath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A8A8"/>
                </a:solidFill>
                <a:latin typeface="IBM Plex Sans"/>
              </a:rPr>
              <a:t>IBM watsonx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1E28"/>
                </a:solidFill>
                <a:latin typeface="IBM Plex San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61616"/>
                </a:solidFill>
                <a:latin typeface="IBM Plex Sans"/>
              </a:rPr>
              <a:t>80</a:t>
            </a:r>
            <a:r>
              <a:rPr sz="5400" b="1">
                <a:solidFill>
                  <a:srgbClr val="DA1E28"/>
                </a:solidFill>
                <a:latin typeface="IBM Plex Sans"/>
              </a:rPr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IBM Plex Sans"/>
              </a:rPr>
              <a:t>of serious medical errors involve
handoff communication failures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8D8D"/>
                </a:solidFill>
                <a:latin typeface="IBM Plex Sans"/>
              </a:rPr>
              <a:t>Joint Commission Sentinel Event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61616"/>
                </a:solidFill>
                <a:latin typeface="IBM Plex Sans"/>
              </a:rPr>
              <a:t>$27</a:t>
            </a:r>
            <a:r>
              <a:rPr sz="5400" b="1">
                <a:solidFill>
                  <a:srgbClr val="DA1E28"/>
                </a:solidFill>
                <a:latin typeface="IBM Plex San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IBM Plex Sans"/>
              </a:rPr>
              <a:t>annual cost of sepsis treatment
in US hospitals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8D8D"/>
                </a:solidFill>
                <a:latin typeface="IBM Plex Sans"/>
              </a:rPr>
              <a:t>Agency for Healthcare Research and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61616"/>
                </a:solidFill>
                <a:latin typeface="IBM Plex Sans"/>
              </a:rPr>
              <a:t>3</a:t>
            </a:r>
            <a:r>
              <a:rPr sz="5400" b="1">
                <a:solidFill>
                  <a:srgbClr val="DA1E28"/>
                </a:solidFill>
                <a:latin typeface="IBM Plex Sans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926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IBM Plex Sans"/>
              </a:rPr>
              <a:t>Medicare payment penalty for hospitals
exceeding readmission thresholds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8D8D"/>
                </a:solidFill>
                <a:latin typeface="IBM Plex Sans"/>
              </a:rPr>
              <a:t>CMS Hospital Readmissions Reduction Program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114800"/>
            <a:ext cx="73152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7280" y="4434840"/>
            <a:ext cx="38100" cy="777240"/>
          </a:xfrm>
          <a:prstGeom prst="rect">
            <a:avLst/>
          </a:prstGeom>
          <a:solidFill>
            <a:srgbClr val="D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4434840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393939"/>
                </a:solidFill>
                <a:latin typeface="IBM Plex Sans"/>
              </a:rPr>
              <a:t>Yet the nursing education directors responsible for preventing these outcomes</a:t>
            </a:r>
            <a:r>
              <a:rPr lang="en-US" sz="1800" b="0" dirty="0">
                <a:solidFill>
                  <a:srgbClr val="393939"/>
                </a:solidFill>
                <a:latin typeface="IBM Plex Sans"/>
              </a:rPr>
              <a:t> </a:t>
            </a:r>
            <a:r>
              <a:rPr sz="1800" b="0" dirty="0">
                <a:solidFill>
                  <a:srgbClr val="393939"/>
                </a:solidFill>
                <a:latin typeface="IBM Plex Sans"/>
              </a:rPr>
              <a:t>are planning C</a:t>
            </a:r>
            <a:r>
              <a:rPr lang="en-US" dirty="0">
                <a:solidFill>
                  <a:srgbClr val="393939"/>
                </a:solidFill>
                <a:latin typeface="IBM Plex Sans"/>
              </a:rPr>
              <a:t>ontinuing Education</a:t>
            </a:r>
            <a:r>
              <a:rPr sz="1800" b="0" dirty="0">
                <a:solidFill>
                  <a:srgbClr val="393939"/>
                </a:solidFill>
                <a:latin typeface="IBM Plex Sans"/>
              </a:rPr>
              <a:t> mandates with no data visibility — no real-time metrics,</a:t>
            </a:r>
            <a:r>
              <a:rPr lang="en-US" sz="1800" b="0" dirty="0">
                <a:solidFill>
                  <a:srgbClr val="393939"/>
                </a:solidFill>
                <a:latin typeface="IBM Plex Sans"/>
              </a:rPr>
              <a:t> </a:t>
            </a:r>
            <a:r>
              <a:rPr sz="1800" b="0" dirty="0">
                <a:solidFill>
                  <a:srgbClr val="393939"/>
                </a:solidFill>
                <a:latin typeface="IBM Plex Sans"/>
              </a:rPr>
              <a:t>no benchmark tracking, no seasonal risk intelligence. They’re guessing.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8A8A8"/>
                </a:solidFill>
                <a:latin typeface="IBM Plex Sans"/>
              </a:rPr>
              <a:t>IBM watsonx.ai  |  IBM watsonx Orchestrate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405384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BM Plex Sans"/>
              </a:rPr>
              <a:t>ClearPath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A8A8"/>
                </a:solidFill>
                <a:latin typeface="IBM Plex Sans"/>
              </a:rPr>
              <a:t>IBM watsonx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2FE"/>
                </a:solidFill>
                <a:latin typeface="IBM Plex Sans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61616"/>
                </a:solidFill>
                <a:latin typeface="IBM Plex Sans"/>
              </a:rPr>
              <a:t>Let me show you.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108960"/>
            <a:ext cx="411480" cy="411480"/>
          </a:xfrm>
          <a:prstGeom prst="ellipse">
            <a:avLst/>
          </a:prstGeom>
          <a:solidFill>
            <a:srgbClr val="EEF3FF"/>
          </a:solidFill>
          <a:ln w="1270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62FE"/>
                </a:solidFill>
                <a:latin typeface="IBM Plex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12724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1616"/>
                </a:solidFill>
                <a:latin typeface="IBM Plex Sans"/>
              </a:rPr>
              <a:t>Dashboard</a:t>
            </a:r>
            <a:r>
              <a:rPr sz="2000" b="0">
                <a:solidFill>
                  <a:srgbClr val="525252"/>
                </a:solidFill>
                <a:latin typeface="IBM Plex Sans"/>
              </a:rPr>
              <a:t> — 4 departments, real metrics vs. national benchmarks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886200"/>
            <a:ext cx="411480" cy="411480"/>
          </a:xfrm>
          <a:prstGeom prst="ellipse">
            <a:avLst/>
          </a:prstGeom>
          <a:solidFill>
            <a:srgbClr val="EEF3FF"/>
          </a:solidFill>
          <a:ln w="1270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62FE"/>
                </a:solidFill>
                <a:latin typeface="IBM Plex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904487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61616"/>
                </a:solidFill>
                <a:latin typeface="IBM Plex Sans"/>
              </a:rPr>
              <a:t>AI Analysis</a:t>
            </a:r>
            <a:r>
              <a:rPr sz="2000" b="0" dirty="0">
                <a:solidFill>
                  <a:srgbClr val="525252"/>
                </a:solidFill>
                <a:latin typeface="IBM Plex Sans"/>
              </a:rPr>
              <a:t> — causal chains, urgency-scored C</a:t>
            </a:r>
            <a:r>
              <a:rPr lang="en-US" sz="2000" dirty="0">
                <a:solidFill>
                  <a:srgbClr val="525252"/>
                </a:solidFill>
                <a:latin typeface="IBM Plex Sans"/>
              </a:rPr>
              <a:t>ontinuing Education</a:t>
            </a:r>
            <a:r>
              <a:rPr sz="2000" b="0" dirty="0">
                <a:solidFill>
                  <a:srgbClr val="525252"/>
                </a:solidFill>
                <a:latin typeface="IBM Plex Sans"/>
              </a:rPr>
              <a:t> recommendations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663440"/>
            <a:ext cx="411480" cy="411480"/>
          </a:xfrm>
          <a:prstGeom prst="ellipse">
            <a:avLst/>
          </a:prstGeom>
          <a:solidFill>
            <a:srgbClr val="EEF3FF"/>
          </a:solidFill>
          <a:ln w="1270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62FE"/>
                </a:solidFill>
                <a:latin typeface="IBM Plex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681727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1616"/>
                </a:solidFill>
                <a:latin typeface="IBM Plex Sans"/>
              </a:rPr>
              <a:t>Orchestrate</a:t>
            </a:r>
            <a:r>
              <a:rPr sz="2000" b="0">
                <a:solidFill>
                  <a:srgbClr val="525252"/>
                </a:solidFill>
                <a:latin typeface="IBM Plex Sans"/>
              </a:rPr>
              <a:t> — natural language agent for nursing directors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8A8A8"/>
                </a:solidFill>
                <a:latin typeface="IBM Plex Sans"/>
              </a:rPr>
              <a:t>IBM watsonx.ai  |  IBM watsonx Orchestrate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405384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BM Plex Sans"/>
              </a:rPr>
              <a:t>ClearPath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A8A8"/>
                </a:solidFill>
                <a:latin typeface="IBM Plex Sans"/>
              </a:rPr>
              <a:t>IBM watsonx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2FE"/>
                </a:solidFill>
                <a:latin typeface="IBM Plex Sans"/>
              </a:rPr>
              <a:t>HOW IT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847" y="201168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287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F6F6F"/>
                </a:solidFill>
                <a:latin typeface="IBM Plex Sans"/>
              </a:rPr>
              <a:t>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287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616"/>
                </a:solidFill>
                <a:latin typeface="IBM Plex Sans"/>
              </a:rPr>
              <a:t>EMR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5447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8A8A8"/>
                </a:solidFill>
                <a:latin typeface="IBM Plex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8367" y="201168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89807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F6F6F"/>
                </a:solidFill>
                <a:latin typeface="IBM Plex San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807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616"/>
                </a:solidFill>
                <a:latin typeface="IBM Plex Sans"/>
              </a:rPr>
              <a:t>SOAP Notes + Benchmarks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2967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8A8A8"/>
                </a:solidFill>
                <a:latin typeface="IBM Plex Sa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5887" y="201168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EEF3FF"/>
          </a:solidFill>
          <a:ln w="1270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7327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F6F6F"/>
                </a:solidFill>
                <a:latin typeface="IBM Plex Sans"/>
              </a:rPr>
              <a:t>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62FE"/>
                </a:solidFill>
                <a:latin typeface="IBM Plex Sans"/>
              </a:rPr>
              <a:t>watsonx.ai · Llama 3.3 70B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0487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8A8A8"/>
                </a:solidFill>
                <a:latin typeface="IBM Plex San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3407" y="201168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24847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F6F6F"/>
                </a:solidFill>
                <a:latin typeface="IBM Plex Sans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847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616"/>
                </a:solidFill>
                <a:latin typeface="IBM Plex Sans"/>
              </a:rPr>
              <a:t>CE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74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A148"/>
                </a:solidFill>
                <a:latin typeface="IBM Plex San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IBM Plex Sans"/>
              </a:rPr>
              <a:t>Every recommendation cites a national standard</a:t>
            </a:r>
            <a:r>
              <a:rPr sz="1500" b="0">
                <a:solidFill>
                  <a:srgbClr val="525252"/>
                </a:solidFill>
                <a:latin typeface="IBM Plex Sans"/>
              </a:rPr>
              <a:t> — CMS, Joint Commission, ANA, NQF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474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A148"/>
                </a:solidFill>
                <a:latin typeface="IBM Plex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IBM Plex Sans"/>
              </a:rPr>
              <a:t>Seasonal risk overlay</a:t>
            </a:r>
            <a:r>
              <a:rPr sz="1500" b="0">
                <a:solidFill>
                  <a:srgbClr val="525252"/>
                </a:solidFill>
                <a:latin typeface="IBM Plex Sans"/>
              </a:rPr>
              <a:t> — flu season, norovirus, trauma surges shape priorities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A148"/>
                </a:solidFill>
                <a:latin typeface="IBM Plex San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297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161616"/>
                </a:solidFill>
                <a:latin typeface="IBM Plex Sans"/>
              </a:rPr>
              <a:t>Clinical documentation analysis</a:t>
            </a:r>
            <a:r>
              <a:rPr sz="1500" b="0" dirty="0">
                <a:solidFill>
                  <a:srgbClr val="525252"/>
                </a:solidFill>
                <a:latin typeface="IBM Plex Sans"/>
              </a:rPr>
              <a:t> — SOAP notes surface hidden quality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A148"/>
                </a:solidFill>
                <a:latin typeface="IBM Plex San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97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IBM Plex Sans"/>
              </a:rPr>
              <a:t>watsonx Orchestrate agent</a:t>
            </a:r>
            <a:r>
              <a:rPr sz="1500" b="0">
                <a:solidFill>
                  <a:srgbClr val="525252"/>
                </a:solidFill>
                <a:latin typeface="IBM Plex Sans"/>
              </a:rPr>
              <a:t> — directors ask questions in natural language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8A8A8"/>
                </a:solidFill>
                <a:latin typeface="IBM Plex Sans"/>
              </a:rPr>
              <a:t>IBM watsonx.ai  |  IBM watsonx Orchestrate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405384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BM Plex Sans"/>
              </a:rPr>
              <a:t>ClearPath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A8A8"/>
                </a:solidFill>
                <a:latin typeface="IBM Plex Sans"/>
              </a:rPr>
              <a:t>IBM watsonx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61616"/>
                </a:solidFill>
                <a:latin typeface="IBM Plex Sans"/>
              </a:rPr>
              <a:t>Evidence-based CE mandates.
Not gut instinct.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25252"/>
                </a:solidFill>
                <a:latin typeface="IBM Plex Sans"/>
              </a:rPr>
              <a:t>ClearPath gives nursing directors what they’ve never had:
a data pipeline from EMR to education plan, powered by IBM watsonx.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480560"/>
            <a:ext cx="4114800" cy="548640"/>
          </a:xfrm>
          <a:prstGeom prst="roundRect">
            <a:avLst>
              <a:gd name="adj" fmla="val 5000"/>
            </a:avLst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logo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44568"/>
            <a:ext cx="37338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45079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Sans"/>
              </a:rPr>
              <a:t>ClearPath — Built on IBM watsonx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8A8A8"/>
                </a:solidFill>
                <a:latin typeface="IBM Plex Sans"/>
              </a:rPr>
              <a:t>IBM watsonx.ai  |  IBM watsonx Orchestrate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348</Words>
  <Application>Microsoft Macintosh PowerPoint</Application>
  <PresentationFormat>Widescreen</PresentationFormat>
  <Paragraphs>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Copeland, Jackson</cp:lastModifiedBy>
  <cp:revision>2</cp:revision>
  <dcterms:created xsi:type="dcterms:W3CDTF">2013-01-27T09:14:16Z</dcterms:created>
  <dcterms:modified xsi:type="dcterms:W3CDTF">2026-03-17T18:06:17Z</dcterms:modified>
  <cp:category/>
</cp:coreProperties>
</file>