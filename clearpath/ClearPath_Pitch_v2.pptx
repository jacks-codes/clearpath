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2926080" cy="41148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62FE"/>
                </a:solidFill>
                <a:latin typeface="IBM Plex Sans"/>
              </a:rPr>
              <a:t>●  Powered by IBM watsonx.ai</a:t>
            </a:r>
          </a:p>
        </p:txBody>
      </p:sp>
      <p:pic>
        <p:nvPicPr>
          <p:cNvPr id="8" name="Picture 7" descr="logo_blu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8001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2024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ClearPath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IBM Plex Sans"/>
              </a:rPr>
              <a:t>AI-powered CE intelligence</a:t>
            </a:r>
            <a:r>
              <a:rPr sz="2600" b="0">
                <a:solidFill>
                  <a:srgbClr val="525252"/>
                </a:solidFill>
                <a:latin typeface="IBM Plex Sans"/>
              </a:rPr>
              <a:t xml:space="preserve"> for hospital nursing directors.
Turn EMR data into targeted education mandates — backed by national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8A8"/>
                </a:solidFill>
                <a:latin typeface="IBM Plex Sans"/>
              </a:rPr>
              <a:t>Nursing Continuing Education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1E28"/>
                </a:solidFill>
                <a:latin typeface="IBM Plex Sa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80</a:t>
            </a:r>
            <a:r>
              <a:rPr sz="5400" b="1">
                <a:solidFill>
                  <a:srgbClr val="DA1E28"/>
                </a:solidFill>
                <a:latin typeface="IBM Plex Sans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IBM Plex Sans"/>
              </a:rPr>
              <a:t>of serious medical errors involve
handoff communication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8D8D"/>
                </a:solidFill>
                <a:latin typeface="IBM Plex Sans"/>
              </a:rPr>
              <a:t>Joint Commission Sentinel Event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$27</a:t>
            </a:r>
            <a:r>
              <a:rPr sz="5400" b="1">
                <a:solidFill>
                  <a:srgbClr val="DA1E28"/>
                </a:solidFill>
                <a:latin typeface="IBM Plex San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IBM Plex Sans"/>
              </a:rPr>
              <a:t>annual cost of sepsis treatment
in US hospitals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8D8D"/>
                </a:solidFill>
                <a:latin typeface="IBM Plex Sans"/>
              </a:rPr>
              <a:t>Agency for Healthcare Research and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61616"/>
                </a:solidFill>
                <a:latin typeface="IBM Plex Sans"/>
              </a:rPr>
              <a:t>3</a:t>
            </a:r>
            <a:r>
              <a:rPr sz="5400" b="1">
                <a:solidFill>
                  <a:srgbClr val="DA1E28"/>
                </a:solidFill>
                <a:latin typeface="IBM Plex Sans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IBM Plex Sans"/>
              </a:rPr>
              <a:t>Medicare payment penalty for hospitals
exceeding readmission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8D8D"/>
                </a:solidFill>
                <a:latin typeface="IBM Plex Sans"/>
              </a:rPr>
              <a:t>CMS Hospital Readmissions Reduction Program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114800"/>
            <a:ext cx="73152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434840"/>
            <a:ext cx="38100" cy="777240"/>
          </a:xfrm>
          <a:prstGeom prst="rect">
            <a:avLst/>
          </a:prstGeom>
          <a:solidFill>
            <a:srgbClr val="D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93939"/>
                </a:solidFill>
                <a:latin typeface="IBM Plex Sans"/>
              </a:rPr>
              <a:t>Yet the nursing education directors responsible for preventing these outcomes
are planning CE mandates with no data visibility — no real-time metrics,
no benchmark tracking, no seasonal risk intelligence. They’re guessing.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2FE"/>
                </a:solidFill>
                <a:latin typeface="IBM Plex Sans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61616"/>
                </a:solidFill>
                <a:latin typeface="IBM Plex Sans"/>
              </a:rPr>
              <a:t>Let me show you.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108960"/>
            <a:ext cx="411480" cy="41148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272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616"/>
                </a:solidFill>
                <a:latin typeface="IBM Plex Sans"/>
              </a:rPr>
              <a:t>Dashboard</a:t>
            </a:r>
            <a:r>
              <a:rPr sz="2000" b="0">
                <a:solidFill>
                  <a:srgbClr val="525252"/>
                </a:solidFill>
                <a:latin typeface="IBM Plex Sans"/>
              </a:rPr>
              <a:t xml:space="preserve"> — 4 departments, real metrics vs. national benchmarks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886200"/>
            <a:ext cx="411480" cy="41148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0448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616"/>
                </a:solidFill>
                <a:latin typeface="IBM Plex Sans"/>
              </a:rPr>
              <a:t>AI Analysis</a:t>
            </a:r>
            <a:r>
              <a:rPr sz="2000" b="0">
                <a:solidFill>
                  <a:srgbClr val="525252"/>
                </a:solidFill>
                <a:latin typeface="IBM Plex Sans"/>
              </a:rPr>
              <a:t xml:space="preserve"> — causal chains, urgency-scored CE recommendations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663440"/>
            <a:ext cx="411480" cy="41148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68172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616"/>
                </a:solidFill>
                <a:latin typeface="IBM Plex Sans"/>
              </a:rPr>
              <a:t>Orchestrate</a:t>
            </a:r>
            <a:r>
              <a:rPr sz="2000" b="0">
                <a:solidFill>
                  <a:srgbClr val="525252"/>
                </a:solidFill>
                <a:latin typeface="IBM Plex Sans"/>
              </a:rPr>
              <a:t xml:space="preserve"> — natural language agent for nursing directors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2FE"/>
                </a:solidFill>
                <a:latin typeface="IBM Plex Sans"/>
              </a:rP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84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28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IBM Plex Sans"/>
              </a:rPr>
              <a:t>EMR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47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8A8A8"/>
                </a:solidFill>
                <a:latin typeface="IBM Plex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36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IBM Plex Sans"/>
              </a:rPr>
              <a:t>SOAP Notes + Benchmarks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967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8A8A8"/>
                </a:solidFill>
                <a:latin typeface="IBM Plex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62FE"/>
                </a:solidFill>
                <a:latin typeface="IBM Plex Sans"/>
              </a:rPr>
              <a:t>watsonx.ai · Llama 3.3 70B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0487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8A8A8"/>
                </a:solidFill>
                <a:latin typeface="IBM Plex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3407" y="201168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4847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F6F6F"/>
                </a:solidFill>
                <a:latin typeface="IBM Plex Sans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847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IBM Plex Sans"/>
              </a:rPr>
              <a:t>CE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Every recommendation cites a national standard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 xml:space="preserve"> — CMS, Joint Commission, ANA, NQF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Seasonal risk overlay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 xml:space="preserve"> — flu season, norovirus, trauma surges shape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Clinical documentation analysis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 xml:space="preserve"> — SOAP notes surface hidden quality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A148"/>
                </a:solidFill>
                <a:latin typeface="IBM Plex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IBM Plex Sans"/>
              </a:rPr>
              <a:t>watsonx Orchestrate agent</a:t>
            </a:r>
            <a:r>
              <a:rPr sz="1500" b="0">
                <a:solidFill>
                  <a:srgbClr val="525252"/>
                </a:solidFill>
                <a:latin typeface="IBM Plex Sans"/>
              </a:rPr>
              <a:t xml:space="preserve"> — directors ask questions in natural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40538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BM Plex Sans"/>
              </a:rPr>
              <a:t>ClearPath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A8A8"/>
                </a:solidFill>
                <a:latin typeface="IBM Plex Sans"/>
              </a:rPr>
              <a:t>IBM watsonx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1616"/>
                </a:solidFill>
                <a:latin typeface="IBM Plex Sans"/>
              </a:rPr>
              <a:t>Evidence-based CE mandates.
Not gut instinct.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500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5252"/>
                </a:solidFill>
                <a:latin typeface="IBM Plex Sans"/>
              </a:rPr>
              <a:t>ClearPath gives nursing directors what they’ve never had: a data pipeline from EMR to education plan — closing the loop on handoff failures, sepsis costs, and readmission penalties. Powered by IBM watsonx.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48056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44568"/>
            <a:ext cx="37338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45079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BM Plex Sans"/>
              </a:rPr>
              <a:t>ClearPath — Built on IBM watsonx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8A8A8"/>
                </a:solidFill>
                <a:latin typeface="IBM Plex Sans"/>
              </a:rPr>
              <a:t>IBM watsonx.ai  |  IBM watsonx Orchestrate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